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431F5-099F-2F42-7332-CCD2BB92E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2F2DA9-2EEA-8B13-10C2-581A53978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F2248F-79A6-4B1A-5BCD-5E3BA034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87399-AA53-5723-E7F2-2E4BE21B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52796C-EAF7-6A51-8B34-EF439A58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82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C1615-CF46-B5F5-7864-B4C00AE5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5CD786-53FE-1B49-8E4D-C5B871D16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F1F3D4-0003-2E65-036B-C8BED9E2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EE6BA8-3B2C-2ADA-4C8D-7FB74D3A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781FC4-AA57-D1EF-1102-CF0E33FD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08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4EABE-126C-FDDF-8B8A-B9D3876D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588EB7-59A8-AC40-1D0F-BB6887B4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82342C-5B5F-E3F3-C2C9-A89FD999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1CD34-77AA-2441-2481-62CBB5A5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03F3C6-968E-7C4A-E62C-B912D0F0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38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224F1-7ABF-267F-C5A7-CDF3F2A9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BF98CD-03EA-24C2-4A82-22F9C4F4C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5BBF34-4FA2-66A0-1DEF-293006CB3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BBC63B-E941-661E-67F0-3EE8B8B9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CAE4F7-899D-6708-2C05-7962037A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B94121-C4B9-71A5-C5CB-3A815E12B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46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CD52A-7A97-3DF2-F57B-8D01F185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1493C0-A55B-7169-F138-DEF1D9C91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B4B6FB-94BB-8F1E-B226-6BD85372E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120D39-3368-A69B-8E72-1492455E7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E63BAF-57C9-E04D-5104-9420883DB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E13BFF-0C72-D517-815C-8891AAEF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274A26A-C315-7114-2D16-E2278E3F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C87489-9280-4B8C-3EA6-64C6ED74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3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ACD18-1319-B586-CEAE-EBE92A69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F0FF13-EC02-63B1-198C-6E394826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E096E3-597B-7B4B-702D-5623DA03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D87C8D-115B-428D-EB65-524C06EB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05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68BB24-CB0A-67FB-EF23-C9D36CE8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B19AAE-26A7-7C7C-D39A-CFFC4717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DE4C89-2EC1-CBE0-9B73-56B805E85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56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2607C-BA55-7549-2350-1267436C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2F60F3-2255-21C9-4017-7374D8594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EDF0A3-AABC-A772-2A3B-F459A4100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4D0EFA-9B46-78D8-3ABA-DDB674DB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F315F8-86F0-9731-BBBB-AB9B5864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31CAB-25A3-3E40-F0AB-44084058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09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4B7EF-8492-A0E5-293A-0763C55E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E4BABE-4D17-BD5B-3284-8AFDD3DF5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7904F5-667B-6498-DB5F-4ACAE8DA1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64A31E-32DB-8622-22A3-FDFE73665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504965-06BE-71F4-F268-87A29FE5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E227FD-2A47-4D9B-40CD-2E179DE4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97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05FF2-DABB-E028-31A2-6FC88922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5C1B48-CB3E-BED5-3186-04D4E34B4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D1D52D-FF45-F1E2-BAE2-0881704A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FCB895-3335-B246-1833-814D9C56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DB1513-9DAC-19BC-95E5-0E169A68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05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E8141-52D2-4B51-9EE5-6F95871DF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8D3F92-DAF1-079D-122B-29B283515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E52DC5-C2CF-86E3-E218-1ADB7FC28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844564-D388-E2D4-C0ED-562DAA1F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AB857D-2821-3CF8-0D5B-E0159AFC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8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41290-DD81-812A-A332-1FFCC646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C95559-CB56-1F99-69E2-2D0F943FA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993815-A5A8-AF0A-190E-FCFEDC15B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C875B-4821-4187-9798-5000FAA6176F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0D7AC3-9CD5-7EA4-5C37-FC44F08B4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81E43-552D-0EB2-CFE5-86ECBA389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9C702-20B6-4787-9538-E56BBAF0A7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46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8299E-E598-3437-4711-E3328A5A0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800" dirty="0"/>
              <a:t>Возможности и пределы обеспечения стойкости бесконтактных систем к релейным атакам на основе доказательств с нулевым разглашением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9CB237-EF70-69F7-4339-A2D84629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0211" y="5451895"/>
            <a:ext cx="2145102" cy="728932"/>
          </a:xfrm>
        </p:spPr>
        <p:txBody>
          <a:bodyPr/>
          <a:lstStyle/>
          <a:p>
            <a:r>
              <a:rPr lang="ru-RU" dirty="0"/>
              <a:t>Тулупов Н.Д.</a:t>
            </a:r>
          </a:p>
        </p:txBody>
      </p:sp>
    </p:spTree>
    <p:extLst>
      <p:ext uri="{BB962C8B-B14F-4D97-AF65-F5344CB8AC3E}">
        <p14:creationId xmlns:p14="http://schemas.microsoft.com/office/powerpoint/2010/main" val="44423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09430-7ED3-5869-022E-CD696BDC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39" y="209850"/>
            <a:ext cx="4743091" cy="747683"/>
          </a:xfrm>
        </p:spPr>
        <p:txBody>
          <a:bodyPr>
            <a:normAutofit/>
          </a:bodyPr>
          <a:lstStyle/>
          <a:p>
            <a:r>
              <a:rPr lang="ru-RU" sz="3600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601B91-2A49-6E3E-64D4-C076FE7A9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39" y="1480567"/>
            <a:ext cx="7719203" cy="3453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/>
              <a:t>Проблема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Бесконтактные системы (RFID/NFC, EMV, PKES) уязвимы к </a:t>
            </a:r>
            <a:r>
              <a:rPr lang="ru-RU" sz="1600" i="1" dirty="0"/>
              <a:t>релейным атакам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Классические протоколы аутентификации, включая ZK/</a:t>
            </a:r>
            <a:r>
              <a:rPr lang="ru-RU" sz="1600" dirty="0" err="1"/>
              <a:t>PoK</a:t>
            </a:r>
            <a:r>
              <a:rPr lang="ru-RU" sz="1600" dirty="0"/>
              <a:t>, проверяют </a:t>
            </a:r>
            <a:r>
              <a:rPr lang="ru-RU" sz="1600" b="1" dirty="0"/>
              <a:t>«кто ты»</a:t>
            </a:r>
            <a:r>
              <a:rPr lang="ru-RU" sz="1600" dirty="0"/>
              <a:t>, но не </a:t>
            </a:r>
            <a:r>
              <a:rPr lang="ru-RU" sz="1600" b="1" dirty="0"/>
              <a:t>«где ты»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Злоумышленник может «удлинить» интерфейс токена без взлома криптографии</a:t>
            </a:r>
          </a:p>
          <a:p>
            <a:pPr marL="0" indent="0">
              <a:buNone/>
            </a:pPr>
            <a:r>
              <a:rPr lang="ru-RU" sz="1600" b="1" dirty="0"/>
              <a:t>Цель работы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Определить, когда одних ZK/</a:t>
            </a:r>
            <a:r>
              <a:rPr lang="ru-RU" sz="1600" dirty="0" err="1"/>
              <a:t>PoK</a:t>
            </a:r>
            <a:r>
              <a:rPr lang="ru-RU" sz="1600" dirty="0"/>
              <a:t> достаточно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И когда их необходимо дополнять: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протоколами </a:t>
            </a:r>
            <a:r>
              <a:rPr lang="ru-RU" sz="1600" b="1" dirty="0" err="1"/>
              <a:t>distance-bounding</a:t>
            </a:r>
            <a:r>
              <a:rPr lang="ru-RU" sz="1600" b="1" dirty="0"/>
              <a:t> (DB)</a:t>
            </a:r>
            <a:endParaRPr lang="ru-RU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или </a:t>
            </a:r>
            <a:r>
              <a:rPr lang="ru-RU" sz="1600" b="1" dirty="0"/>
              <a:t>UWB-</a:t>
            </a:r>
            <a:r>
              <a:rPr lang="ru-RU" sz="1600" b="1" dirty="0" err="1"/>
              <a:t>дальнометрированием</a:t>
            </a:r>
            <a:endParaRPr lang="ru-RU" sz="16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AB9623-39FC-B86C-9127-FE48AE7E1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965" y="2803585"/>
            <a:ext cx="3833314" cy="329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7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65CB8-F129-58BD-B2B7-BA1D5FF2E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12" y="201224"/>
            <a:ext cx="3561272" cy="963343"/>
          </a:xfrm>
        </p:spPr>
        <p:txBody>
          <a:bodyPr/>
          <a:lstStyle/>
          <a:p>
            <a:r>
              <a:rPr lang="en-US" sz="3600" dirty="0"/>
              <a:t>Zero-Knowledge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012261-DDCE-70E4-E750-A7CF920A7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5" y="1860130"/>
            <a:ext cx="7425906" cy="3565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/>
              <a:t>Zero-</a:t>
            </a:r>
            <a:r>
              <a:rPr lang="ru-RU" sz="1600" b="1" dirty="0" err="1"/>
              <a:t>Knowledge</a:t>
            </a:r>
            <a:r>
              <a:rPr lang="ru-RU" sz="1600" b="1" dirty="0"/>
              <a:t> / </a:t>
            </a:r>
            <a:r>
              <a:rPr lang="ru-RU" sz="1600" b="1" dirty="0" err="1"/>
              <a:t>PoK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Доказывающий убеждает проверяющего, не раскрывая секрет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Пример: «пещера Пегги и Виктора» — знание пароля к потайной двери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В аутентификации: секрет остаётся в токене, проверяется только факт владения</a:t>
            </a:r>
          </a:p>
          <a:p>
            <a:pPr marL="0" indent="0">
              <a:buNone/>
            </a:pPr>
            <a:r>
              <a:rPr lang="ru-RU" sz="1600" b="1" dirty="0"/>
              <a:t>Ключевой момент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ZK отвечает на вопрос </a:t>
            </a:r>
            <a:r>
              <a:rPr lang="ru-RU" sz="1600" b="1" dirty="0"/>
              <a:t>«знаешь ли ты секрет?»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Но никак не ограничивает расстояние между участниками</a:t>
            </a:r>
          </a:p>
          <a:p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FF6B02-C676-0A65-29CC-07DE063A6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059" y="1316666"/>
            <a:ext cx="2496822" cy="356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8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B03BF-1AA2-890B-7620-30C5FC00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59" y="223928"/>
            <a:ext cx="4096109" cy="842573"/>
          </a:xfrm>
        </p:spPr>
        <p:txBody>
          <a:bodyPr>
            <a:normAutofit/>
          </a:bodyPr>
          <a:lstStyle/>
          <a:p>
            <a:r>
              <a:rPr lang="ru-RU" sz="3600" dirty="0"/>
              <a:t>Релейные атаки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CE19AA-EC52-708B-EA92-9F209162C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87" y="1534811"/>
            <a:ext cx="6106066" cy="3822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Определение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Противник прозрачно ретранслирует сообщения между V и 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Криптография протокола не нарушается, удлиняется только канал</a:t>
            </a:r>
          </a:p>
          <a:p>
            <a:pPr marL="0" indent="0">
              <a:buNone/>
            </a:pPr>
            <a:r>
              <a:rPr lang="ru-RU" sz="1600" b="1" dirty="0"/>
              <a:t>Пример: PKES (авто)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Нападающий у машины, напарник у владельца ключа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Сигналы LF/UHF туннелируются по радиоканалу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Машина открывается, хотя ключ физически далеко</a:t>
            </a:r>
          </a:p>
          <a:p>
            <a:pPr marL="0" indent="0">
              <a:buNone/>
            </a:pPr>
            <a:r>
              <a:rPr lang="ru-RU" sz="1600" b="1" dirty="0"/>
              <a:t>Вывод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Для протокола без контроля времени пролёта</a:t>
            </a:r>
            <a:r>
              <a:rPr lang="en-US" sz="1600" dirty="0"/>
              <a:t> </a:t>
            </a:r>
            <a:r>
              <a:rPr lang="ru-RU" sz="1600" dirty="0"/>
              <a:t>взаимодействие «вблизи» и через туннель неразличимо</a:t>
            </a:r>
          </a:p>
          <a:p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EBA048-62A6-D4C0-8B0A-EF8B506E9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595" y="1802920"/>
            <a:ext cx="4719616" cy="337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2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1F015-717E-6DB0-B9F6-69B175A5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58" y="106334"/>
            <a:ext cx="6338977" cy="989222"/>
          </a:xfrm>
        </p:spPr>
        <p:txBody>
          <a:bodyPr>
            <a:normAutofit/>
          </a:bodyPr>
          <a:lstStyle/>
          <a:p>
            <a:r>
              <a:rPr lang="en-US" sz="3600" dirty="0"/>
              <a:t>Distance-Bounding </a:t>
            </a:r>
            <a:r>
              <a:rPr lang="ru-RU" sz="3600" dirty="0"/>
              <a:t>протоколы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C612F-8280-5268-747C-E3AA573B7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40" y="1230403"/>
            <a:ext cx="6882442" cy="4221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/>
              <a:t>Идея </a:t>
            </a:r>
            <a:r>
              <a:rPr lang="en-US" sz="1600" b="1" dirty="0"/>
              <a:t>DB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Измерять время пролёта коротких запросов и ответов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Оценивать верхнюю границу расстояния</a:t>
            </a:r>
            <a:r>
              <a:rPr lang="en-US" sz="1600" dirty="0"/>
              <a:t> </a:t>
            </a:r>
            <a:r>
              <a:rPr lang="en-US" sz="1600" dirty="0" err="1"/>
              <a:t>d≤c</a:t>
            </a:r>
            <a:r>
              <a:rPr lang="en-US" sz="1600" dirty="0"/>
              <a:t>/2*(</a:t>
            </a:r>
            <a:r>
              <a:rPr lang="en-US" sz="1600" dirty="0" err="1"/>
              <a:t>t_round</a:t>
            </a:r>
            <a:r>
              <a:rPr lang="en-US" sz="1600" dirty="0"/>
              <a:t>−</a:t>
            </a:r>
            <a:r>
              <a:rPr lang="el-GR" sz="1600" dirty="0"/>
              <a:t>δ</a:t>
            </a:r>
            <a:r>
              <a:rPr lang="en-US" sz="1600" dirty="0"/>
              <a:t>_proc)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Любой «длинный» туннель даёт дополнительную задержку → сеанс отклоняется</a:t>
            </a:r>
          </a:p>
          <a:p>
            <a:pPr marL="0" indent="0">
              <a:buNone/>
            </a:pPr>
            <a:r>
              <a:rPr lang="ru-RU" sz="1600" b="1" dirty="0"/>
              <a:t>Классические протоколы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Brands–</a:t>
            </a:r>
            <a:r>
              <a:rPr lang="en-US" sz="1600" dirty="0" err="1"/>
              <a:t>Chaum</a:t>
            </a:r>
            <a:r>
              <a:rPr lang="en-US" sz="1600" dirty="0"/>
              <a:t> (BC): P</a:t>
            </a:r>
            <a:r>
              <a:rPr lang="ru-RU" sz="1600" dirty="0"/>
              <a:t>_</a:t>
            </a:r>
            <a:r>
              <a:rPr lang="en-US" sz="1600" dirty="0"/>
              <a:t>mafia = 2^{-k}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Hancke–Kuhn (HK): P</a:t>
            </a:r>
            <a:r>
              <a:rPr lang="ru-RU" sz="1600" dirty="0"/>
              <a:t>_</a:t>
            </a:r>
            <a:r>
              <a:rPr lang="en-US" sz="1600" dirty="0"/>
              <a:t>mafia </a:t>
            </a:r>
            <a:r>
              <a:rPr lang="ru-RU" sz="1600" dirty="0"/>
              <a:t>= </a:t>
            </a:r>
            <a:r>
              <a:rPr lang="en-US" sz="1600" dirty="0"/>
              <a:t>(3/4)^k</a:t>
            </a:r>
          </a:p>
          <a:p>
            <a:pPr marL="0" indent="0">
              <a:buNone/>
            </a:pPr>
            <a:r>
              <a:rPr lang="ru-RU" sz="1600" b="1" dirty="0"/>
              <a:t>Физическая реализация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UWB secure ranging (IEEE 802.15.4z/</a:t>
            </a:r>
            <a:r>
              <a:rPr lang="en-US" sz="1600" dirty="0" err="1"/>
              <a:t>FiRa</a:t>
            </a:r>
            <a:r>
              <a:rPr lang="en-US" sz="1600" dirty="0"/>
              <a:t>)                                               </a:t>
            </a:r>
            <a:r>
              <a:rPr lang="ru-RU" sz="1600" dirty="0"/>
              <a:t>реализует идею </a:t>
            </a:r>
            <a:r>
              <a:rPr lang="en-US" sz="1600" dirty="0"/>
              <a:t>DB </a:t>
            </a:r>
            <a:r>
              <a:rPr lang="ru-RU" sz="1600" dirty="0"/>
              <a:t>на </a:t>
            </a:r>
            <a:r>
              <a:rPr lang="ru-RU" sz="1600" dirty="0" err="1"/>
              <a:t>радиоуровне</a:t>
            </a:r>
            <a:endParaRPr lang="ru-RU" sz="1600" dirty="0"/>
          </a:p>
          <a:p>
            <a:endParaRPr lang="ru-RU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CAFC4C-EB3A-FE6B-53E7-FC29B2525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71" y="3082356"/>
            <a:ext cx="6010090" cy="33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9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665A1-B739-4221-6DDF-7D35FB2A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65" y="0"/>
            <a:ext cx="8409317" cy="1092739"/>
          </a:xfrm>
        </p:spPr>
        <p:txBody>
          <a:bodyPr>
            <a:normAutofit/>
          </a:bodyPr>
          <a:lstStyle/>
          <a:p>
            <a:r>
              <a:rPr lang="ru-RU" sz="3600" dirty="0"/>
              <a:t>Основные результаты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9166E-2636-042C-756F-AB1966F6A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44" y="1351173"/>
            <a:ext cx="6140570" cy="4325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/>
              <a:t>Главные выводы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ZK/</a:t>
            </a:r>
            <a:r>
              <a:rPr lang="ru-RU" sz="1600" dirty="0" err="1"/>
              <a:t>PoK</a:t>
            </a:r>
            <a:r>
              <a:rPr lang="ru-RU" sz="1600" dirty="0"/>
              <a:t> не обеспечивает стойкость к </a:t>
            </a:r>
            <a:r>
              <a:rPr lang="ru-RU" sz="1600" dirty="0" err="1"/>
              <a:t>relay</a:t>
            </a:r>
            <a:r>
              <a:rPr lang="ru-RU" sz="1600" dirty="0"/>
              <a:t> без контроля времени пролёта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DB/UWB добавляют привязку к расстоянию и закрывают этот класс атак</a:t>
            </a:r>
          </a:p>
          <a:p>
            <a:pPr marL="0" indent="0">
              <a:buNone/>
            </a:pPr>
            <a:r>
              <a:rPr lang="ru-RU" sz="1600" b="1" dirty="0"/>
              <a:t>Практические рекомендации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NFC-пропуска → схема ZK +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PKES → переход на UWB </a:t>
            </a:r>
            <a:r>
              <a:rPr lang="ru-RU" sz="1600" dirty="0" err="1"/>
              <a:t>secure</a:t>
            </a:r>
            <a:r>
              <a:rPr lang="ru-RU" sz="1600" dirty="0"/>
              <a:t> </a:t>
            </a:r>
            <a:r>
              <a:rPr lang="ru-RU" sz="1600" dirty="0" err="1"/>
              <a:t>ranging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EMV → усиленные политики </a:t>
            </a:r>
            <a:r>
              <a:rPr lang="ru-RU" sz="1600" dirty="0" err="1"/>
              <a:t>anti-relay</a:t>
            </a:r>
            <a:r>
              <a:rPr lang="ru-RU" sz="1600" dirty="0"/>
              <a:t> и, по возможности, UWB</a:t>
            </a:r>
          </a:p>
          <a:p>
            <a:pPr marL="0" indent="0">
              <a:buNone/>
            </a:pPr>
            <a:r>
              <a:rPr lang="ru-RU" sz="1600" b="1" dirty="0"/>
              <a:t>Ограничения и перспективы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DB чувствителен к джиттеру и аппаратным задержкам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Перспективы: помехоустойчивые DB-варианты и композиции NIZK + DB/UWB</a:t>
            </a:r>
          </a:p>
          <a:p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69BE59-252D-7D0D-BC5C-36DD3893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873" y="382288"/>
            <a:ext cx="2697911" cy="3597215"/>
          </a:xfrm>
          <a:prstGeom prst="rect">
            <a:avLst/>
          </a:prstGeom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7BA70017-5545-93C2-363D-3857C66C8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084" y="3750588"/>
            <a:ext cx="4368772" cy="218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0690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Широкоэкранный</PresentationFormat>
  <Paragraphs>51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Возможности и пределы обеспечения стойкости бесконтактных систем к релейным атакам на основе доказательств с нулевым разглашением</vt:lpstr>
      <vt:lpstr>Постановка задачи</vt:lpstr>
      <vt:lpstr>Zero-Knowledge</vt:lpstr>
      <vt:lpstr>Релейные атаки </vt:lpstr>
      <vt:lpstr>Distance-Bounding протоколы</vt:lpstr>
      <vt:lpstr>Основные результаты и рекомендации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Тулупов</dc:creator>
  <cp:lastModifiedBy>Николай Тулупов</cp:lastModifiedBy>
  <cp:revision>1</cp:revision>
  <dcterms:created xsi:type="dcterms:W3CDTF">2025-11-14T21:45:57Z</dcterms:created>
  <dcterms:modified xsi:type="dcterms:W3CDTF">2025-11-14T21:46:01Z</dcterms:modified>
</cp:coreProperties>
</file>