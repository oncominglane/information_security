
<file path=[Content_Types].xml><?xml version="1.0" encoding="utf-8"?>
<Types xmlns="http://schemas.openxmlformats.org/package/2006/content-types">
  <Default Extension="fntdata" ContentType="application/x-fontdata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Slab" pitchFamily="2" charset="0"/>
      <p:regular r:id="rId23"/>
      <p:bold r:id="rId24"/>
    </p:embeddedFont>
    <p:embeddedFont>
      <p:font typeface="Roboto Slab Light" panose="020F0502020204030204" pitchFamily="2" charset="0"/>
      <p:regular r:id="rId2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025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8.jp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27240"/>
            <a:ext cx="7556421" cy="2160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MailDefender: защита от ZIP+LNK и </a:t>
            </a:r>
            <a:r>
              <a:rPr lang="en-US" sz="44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фишинга</a:t>
            </a:r>
            <a:r>
              <a:rPr lang="ru-RU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в электронной почте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89" y="4153899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Лабораторный почтовый сервер с модулем ИИ</a:t>
            </a:r>
            <a:endParaRPr lang="en-US" sz="3550" dirty="0"/>
          </a:p>
        </p:txBody>
      </p:sp>
      <p:sp>
        <p:nvSpPr>
          <p:cNvPr id="8" name="Text 5"/>
          <p:cNvSpPr/>
          <p:nvPr/>
        </p:nvSpPr>
        <p:spPr>
          <a:xfrm>
            <a:off x="6280190" y="6212086"/>
            <a:ext cx="7556421" cy="182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МФТИ, 2025</a:t>
            </a:r>
            <a:br>
              <a:rPr lang="ru-RU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ru-RU" sz="140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Шевяхов</a:t>
            </a:r>
            <a:r>
              <a:rPr lang="ru-RU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Егор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ru-RU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Маков Сергей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ru-RU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Тулупов Николай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ru-RU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Осипов Алексей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ru-RU" sz="140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Глушнёв</a:t>
            </a:r>
            <a:r>
              <a:rPr lang="ru-RU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Кирилл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9746813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Почему e-mail и ZIP+LNK — проблема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0604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Электронная почта — основной вектор начального проникновения в корпоративные сети.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21638" y="2438043"/>
            <a:ext cx="6342102" cy="989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Атаки с использованием фишинговых писем, содержащих вложения ZIP с файлами .lnk, — распространенный инструмент APT-групп.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3499961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Ранняя блокировка таких вложений эффективно разрывает цепочку атаки до достижения конечного пользователя.</a:t>
            </a:r>
            <a:endParaRPr lang="en-US" sz="1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175F909-0620-ABDA-5D09-8DF7DBE95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362" y="1211342"/>
            <a:ext cx="6502400" cy="650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4248" y="515422"/>
            <a:ext cx="6332339" cy="584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Цель проекта MailDefender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54248" y="1590199"/>
            <a:ext cx="6432947" cy="1750100"/>
          </a:xfrm>
          <a:prstGeom prst="roundRect">
            <a:avLst>
              <a:gd name="adj" fmla="val 160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41177" y="1777127"/>
            <a:ext cx="233684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Главная цель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177" y="2256115"/>
            <a:ext cx="6059091" cy="897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Показать, как сочетание простого правила и ИИ эффективно отсеивает целый класс атак до того, как они достигнут пользователя.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550825" y="1548170"/>
            <a:ext cx="6432947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54248" y="3971092"/>
            <a:ext cx="6432947" cy="1451015"/>
          </a:xfrm>
          <a:prstGeom prst="roundRect">
            <a:avLst>
              <a:gd name="adj" fmla="val 193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41177" y="4158020"/>
            <a:ext cx="233684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Задача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1177" y="4637008"/>
            <a:ext cx="6059091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Изучить технику ZIP+LNK и сформулировать надежное правило фильтрации.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550825" y="3971092"/>
            <a:ext cx="6432947" cy="1451015"/>
          </a:xfrm>
          <a:prstGeom prst="roundRect">
            <a:avLst>
              <a:gd name="adj" fmla="val 193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7737753" y="4158020"/>
            <a:ext cx="233684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Задача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37753" y="4637008"/>
            <a:ext cx="6059091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Реализовать функциональный модуль для проверки писем и их вложений.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54248" y="6052899"/>
            <a:ext cx="6432947" cy="1151930"/>
          </a:xfrm>
          <a:prstGeom prst="roundRect">
            <a:avLst>
              <a:gd name="adj" fmla="val 2434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41177" y="6239827"/>
            <a:ext cx="233684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Задача 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177" y="6718816"/>
            <a:ext cx="6059091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Разработать удобный тестовый стенд с веб-клиентом и Mailpit.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550825" y="6052899"/>
            <a:ext cx="6432947" cy="1451015"/>
          </a:xfrm>
          <a:prstGeom prst="roundRect">
            <a:avLst>
              <a:gd name="adj" fmla="val 193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737753" y="6239827"/>
            <a:ext cx="2336840" cy="292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Задача 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37753" y="6718816"/>
            <a:ext cx="6059091" cy="5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Внедрить опциональную ИИ-проверку текста письма для обнаружения фишинга.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676" y="507325"/>
            <a:ext cx="7685246" cy="5765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Общая архитектура MailDefender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5676" y="1452682"/>
            <a:ext cx="737830" cy="1106805"/>
          </a:xfrm>
          <a:prstGeom prst="roundRect">
            <a:avLst>
              <a:gd name="adj" fmla="val 360054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76181" y="1833086"/>
            <a:ext cx="276701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1567934" y="1637109"/>
            <a:ext cx="3935968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Клиент для отправки сообщений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67934" y="2035969"/>
            <a:ext cx="12416790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Веб-форма или CLI для отправки почты в систему.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5676" y="2743914"/>
            <a:ext cx="737830" cy="1106805"/>
          </a:xfrm>
          <a:prstGeom prst="roundRect">
            <a:avLst>
              <a:gd name="adj" fmla="val 360054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876181" y="3124319"/>
            <a:ext cx="276701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567934" y="2928342"/>
            <a:ext cx="2501265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Правила блокировки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67934" y="3327202"/>
            <a:ext cx="12416790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Ядро системы с правилом ZIP+LNK для анализа вложений и прерывания цепочки атак.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5676" y="4035147"/>
            <a:ext cx="737830" cy="1106805"/>
          </a:xfrm>
          <a:prstGeom prst="roundRect">
            <a:avLst>
              <a:gd name="adj" fmla="val 360054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876181" y="4415552"/>
            <a:ext cx="276701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1567934" y="4219575"/>
            <a:ext cx="2306003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Сервер MailPit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67934" y="4618434"/>
            <a:ext cx="12416790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SMTP-сервер и веб-интерфейс для просмотра полученных писем.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5676" y="5326380"/>
            <a:ext cx="737830" cy="1106805"/>
          </a:xfrm>
          <a:prstGeom prst="roundRect">
            <a:avLst>
              <a:gd name="adj" fmla="val 360054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876181" y="5706785"/>
            <a:ext cx="276701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567934" y="5510808"/>
            <a:ext cx="2306003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ИИ-аналитик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67934" y="5909667"/>
            <a:ext cx="12416790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Интеграция с внешней моделью для анализа текста письма и обнаружения фишинга.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5676" y="6617613"/>
            <a:ext cx="737830" cy="1106805"/>
          </a:xfrm>
          <a:prstGeom prst="roundRect">
            <a:avLst>
              <a:gd name="adj" fmla="val 360054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876181" y="6998018"/>
            <a:ext cx="276701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1567934" y="6802041"/>
            <a:ext cx="2306003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Docker Compose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67934" y="7200900"/>
            <a:ext cx="12416790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Контейнеризация всей инфраструктуры для изоляции компонентов, защиты от компрометации и простого развертывания.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0689"/>
            <a:ext cx="86984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Docker Compose в MailDefender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63096"/>
            <a:ext cx="4196358" cy="3665815"/>
          </a:xfrm>
          <a:prstGeom prst="roundRect">
            <a:avLst>
              <a:gd name="adj" fmla="val 928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3089910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3276957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3997166"/>
            <a:ext cx="37232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Изоляция и безопасность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4487585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Все компоненты (Mailpit, клиент, сканер) изолированы в отдельных контейнерах, создавая безопасную и предсказуемую среду для тестирования.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2863096"/>
            <a:ext cx="4196358" cy="3665815"/>
          </a:xfrm>
          <a:prstGeom prst="roundRect">
            <a:avLst>
              <a:gd name="adj" fmla="val 928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3776" y="3089910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30942" y="3276957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43776" y="3997166"/>
            <a:ext cx="37292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Единообразие окружения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43776" y="4487585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обеспечивает идентичное окружение на любой машине, позволяя быстро развернуть лабораторный стенд одной командой.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2863096"/>
            <a:ext cx="4196358" cy="3665815"/>
          </a:xfrm>
          <a:prstGeom prst="roundRect">
            <a:avLst>
              <a:gd name="adj" fmla="val 928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6948" y="3089910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4114" y="3276957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66948" y="3997166"/>
            <a:ext cx="36684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Простота развертывания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66948" y="4487585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Контейнеризация упрощает развертывание и обновление лабораторного почтового сервера без вмешательства в основную инфраструктуру.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3543" y="898327"/>
            <a:ext cx="8356044" cy="646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Блокировка ZIP+LNK-вложений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53" y="2093238"/>
            <a:ext cx="310039" cy="3100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5293" y="2086928"/>
            <a:ext cx="3226594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Разбор MIME-структуры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395293" y="2616518"/>
            <a:ext cx="7036475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Детальный анализ всех частей входящего письма.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53" y="3366849"/>
            <a:ext cx="310039" cy="3100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95293" y="3360539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Поиск ZIP-файлов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395293" y="3890129"/>
            <a:ext cx="7036475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Идентификация и извлечение архивов среди вложений.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53" y="4640461"/>
            <a:ext cx="310039" cy="3100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95293" y="4634151"/>
            <a:ext cx="3801785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Анализ содержимого архива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395293" y="5163741"/>
            <a:ext cx="7036475" cy="330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Проверка каждого файла внутри ZIP на наличие .lnk расширений.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53" y="5914073"/>
            <a:ext cx="310039" cy="31003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95293" y="5907762"/>
            <a:ext cx="2584013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Принятие решения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1395293" y="6437352"/>
            <a:ext cx="7036475" cy="66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Если .lnk найден, письмо маркируется как опасное и блокируется. Поврежденные ZIP-архивы также не допускаются.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3737" y="2086928"/>
            <a:ext cx="4456152" cy="44561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9684"/>
            <a:ext cx="123574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Ограничения правил и необходимость ИИ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83775"/>
            <a:ext cx="6244709" cy="1760577"/>
          </a:xfrm>
          <a:prstGeom prst="roundRect">
            <a:avLst>
              <a:gd name="adj" fmla="val 193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1020604" y="2810589"/>
            <a:ext cx="317373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Узкая специализация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391733"/>
            <a:ext cx="57910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Правило ZIP+LNK эффективно, но нацелено на один конкретный вектор атаки.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4571167"/>
            <a:ext cx="6244709" cy="1760577"/>
          </a:xfrm>
          <a:prstGeom prst="roundRect">
            <a:avLst>
              <a:gd name="adj" fmla="val 193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020604" y="47979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Эволюция угроз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5379125"/>
            <a:ext cx="57910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Методы киберпреступников постоянно развиваются, появляются новые техники обхода.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599521" y="2583775"/>
            <a:ext cx="6244709" cy="1760577"/>
          </a:xfrm>
          <a:prstGeom prst="roundRect">
            <a:avLst>
              <a:gd name="adj" fmla="val 1933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7826335" y="2810589"/>
            <a:ext cx="28769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Риск обхода правил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26335" y="3391733"/>
            <a:ext cx="579108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Даже наш надежный шаблон может быть взломан или обойден новыми трюками.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599521" y="4571167"/>
            <a:ext cx="6244709" cy="2123480"/>
          </a:xfrm>
          <a:prstGeom prst="roundRect">
            <a:avLst>
              <a:gd name="adj" fmla="val 160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7826335" y="47979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Адаптивность ИИ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826335" y="5379125"/>
            <a:ext cx="579108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ИИ-аналитика необходима для выявления новых и сложных фишинговых атак, которые невозможно предсказать правилами.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1768"/>
            <a:ext cx="104730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Опциональный слой ИИ-аналитики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974175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200989"/>
            <a:ext cx="33310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Сбор описания письма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2691408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Извлечение ключевых данных: тема, отправитель, тело текста, информация о вложениях.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335060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3561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Передача в модель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05229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Запрос к выбранной LLM для оценки, позволяет использовать любую модель совместимую с OpenAI API.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95944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Оценка риска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5413177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Модель возвращает вердикт: "безопасно" или "подозрительно", с пояснением.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056828"/>
            <a:ext cx="1134070" cy="136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54674" y="6283643"/>
            <a:ext cx="39589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Блокировка и логирование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154674" y="6774061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Подозрительные письма блокируются, их детали сохраняются в логах для дальнейшего анализа. 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632" y="671393"/>
            <a:ext cx="7196495" cy="599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Как выглядит демонстрация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52" y="1817846"/>
            <a:ext cx="4321612" cy="230302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335" y="1817846"/>
            <a:ext cx="4321612" cy="2303026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9418" y="1817846"/>
            <a:ext cx="4321612" cy="230302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71632" y="4423053"/>
            <a:ext cx="191810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5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632" y="4726186"/>
            <a:ext cx="6547604" cy="2286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671632" y="4867751"/>
            <a:ext cx="2398990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Запуск стенда</a:t>
            </a:r>
            <a:endParaRPr lang="en-US" sz="1850" dirty="0"/>
          </a:p>
        </p:txBody>
      </p:sp>
      <p:sp>
        <p:nvSpPr>
          <p:cNvPr id="9" name="Text 3"/>
          <p:cNvSpPr/>
          <p:nvPr/>
        </p:nvSpPr>
        <p:spPr>
          <a:xfrm>
            <a:off x="671632" y="5282684"/>
            <a:ext cx="6547604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для развертывания MailDefender и Mailpit.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7411045" y="4423053"/>
            <a:ext cx="191810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1045" y="4733806"/>
            <a:ext cx="6547723" cy="228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411045" y="4867751"/>
            <a:ext cx="3412093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Отправка обычного письма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7411045" y="5282684"/>
            <a:ext cx="6547723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Письмо без вредоносных вложений успешно доставляется в Mailpit.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671632" y="5940623"/>
            <a:ext cx="191810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5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632" y="6224588"/>
            <a:ext cx="6547604" cy="2286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71632" y="6385322"/>
            <a:ext cx="2398990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Тест ZIP+LNK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671632" y="6800255"/>
            <a:ext cx="6547604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Отправка письма с тестовым ZIP+LNK вложением, которое будет заблокировано.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7411045" y="5940623"/>
            <a:ext cx="191810" cy="239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5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1045" y="6224588"/>
            <a:ext cx="6547723" cy="2286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411045" y="6385322"/>
            <a:ext cx="2530316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ИИ-анализ фишинга</a:t>
            </a:r>
            <a:endParaRPr lang="en-US" sz="1850" dirty="0"/>
          </a:p>
        </p:txBody>
      </p:sp>
      <p:sp>
        <p:nvSpPr>
          <p:cNvPr id="21" name="Text 12"/>
          <p:cNvSpPr/>
          <p:nvPr/>
        </p:nvSpPr>
        <p:spPr>
          <a:xfrm>
            <a:off x="7411045" y="6800255"/>
            <a:ext cx="6547723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Включение ИИ-модуля и отправка фишингового текста для демонстрации его работы.</a:t>
            </a:r>
            <a:endParaRPr lang="en-US" sz="1500" dirty="0"/>
          </a:p>
        </p:txBody>
      </p:sp>
      <p:pic>
        <p:nvPicPr>
          <p:cNvPr id="23" name="Рисунок 2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9817405-EAC4-E222-77F0-63842A3C77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633" y="1804749"/>
            <a:ext cx="4329232" cy="2310051"/>
          </a:xfrm>
          <a:prstGeom prst="rect">
            <a:avLst/>
          </a:prstGeom>
        </p:spPr>
      </p:pic>
      <p:pic>
        <p:nvPicPr>
          <p:cNvPr id="25" name="Рисунок 2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DEE09E-D74E-CD31-55D9-96C37662A6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4334" y="1804749"/>
            <a:ext cx="4321612" cy="2316123"/>
          </a:xfrm>
          <a:prstGeom prst="rect">
            <a:avLst/>
          </a:prstGeom>
        </p:spPr>
      </p:pic>
      <p:pic>
        <p:nvPicPr>
          <p:cNvPr id="27" name="Рисунок 26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B4581C8-F7B8-A20D-AC48-1DBDE3BDA8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155" y="1817846"/>
            <a:ext cx="4321612" cy="22969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3179" y="937617"/>
            <a:ext cx="10891718" cy="601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MailDefender против сценариев PhantomCore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673179" y="2043470"/>
            <a:ext cx="3795236" cy="2154079"/>
          </a:xfrm>
          <a:prstGeom prst="roundRect">
            <a:avLst>
              <a:gd name="adj" fmla="val 5094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19" y="2043470"/>
            <a:ext cx="91440" cy="21540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905" y="2258616"/>
            <a:ext cx="2814161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Сценарий PhantomCore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56905" y="2751296"/>
            <a:ext cx="3296364" cy="923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Фишинговое письмо с ZIP-архивом, содержащим LNK-файл, ведет к установке RAT-трояна.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0702" y="2043470"/>
            <a:ext cx="3795236" cy="2154079"/>
          </a:xfrm>
          <a:prstGeom prst="roundRect">
            <a:avLst>
              <a:gd name="adj" fmla="val 5094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842" y="2043470"/>
            <a:ext cx="91440" cy="21540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44428" y="2258616"/>
            <a:ext cx="2628543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Реакция MailDefender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944428" y="2751296"/>
            <a:ext cx="3296364" cy="1231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MailDefender прерывает атаку на первом этапе, блокируя ZIP+LNK вложение, не давая ему достичь пользователя.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73179" y="4389834"/>
            <a:ext cx="3795236" cy="2461855"/>
          </a:xfrm>
          <a:prstGeom prst="roundRect">
            <a:avLst>
              <a:gd name="adj" fmla="val 4457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19" y="4389834"/>
            <a:ext cx="91440" cy="246185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56905" y="4604980"/>
            <a:ext cx="2404229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Роль ИИ-модуля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56905" y="5097661"/>
            <a:ext cx="3296364" cy="1538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ИИ-модуль способен выявлять эволюционирующие фишинговые кампании, даже если формат вложений меняется, предоставляя дополнительный уровень защиты.</a:t>
            </a:r>
            <a:endParaRPr lang="en-US" sz="1500" dirty="0"/>
          </a:p>
        </p:txBody>
      </p:sp>
      <p:pic>
        <p:nvPicPr>
          <p:cNvPr id="17" name="Рисунок 16" descr="Изображение выглядит как текст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D04734A-F160-A02E-5A1F-9BEB3CEAD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5942" y="2006222"/>
            <a:ext cx="5497909" cy="54979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54512"/>
            <a:ext cx="72899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Ограничения и развитие</a:t>
            </a:r>
            <a:endParaRPr lang="en-US" sz="4450" dirty="0"/>
          </a:p>
        </p:txBody>
      </p:sp>
      <p:sp>
        <p:nvSpPr>
          <p:cNvPr id="8" name="Text 5"/>
          <p:cNvSpPr/>
          <p:nvPr/>
        </p:nvSpPr>
        <p:spPr>
          <a:xfrm>
            <a:off x="6280190" y="204258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Планы на будущее: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6280190" y="2694689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Расширение поддержки для макросов, скриптов, подозрительных URL.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3862692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новых тестовых кейсов на основе актуальных отчетов Threat Intelligence.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280190" y="5393597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Интеграция с существующими почтовыми шлюзами и сравнение эффективности различных моделей ИИ.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3275" y="727710"/>
            <a:ext cx="5120640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Выводы и вопросы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03275" y="1674971"/>
            <a:ext cx="7710249" cy="1180028"/>
          </a:xfrm>
          <a:prstGeom prst="roundRect">
            <a:avLst>
              <a:gd name="adj" fmla="val 41659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6408063" y="1879759"/>
            <a:ext cx="3848219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Реализован почтовый сервер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8063" y="2322552"/>
            <a:ext cx="730067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MailDefender с эффективной защитой от ZIP+LNK угроз.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03275" y="3059787"/>
            <a:ext cx="7710249" cy="1180028"/>
          </a:xfrm>
          <a:prstGeom prst="roundRect">
            <a:avLst>
              <a:gd name="adj" fmla="val 41659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6408063" y="3264575"/>
            <a:ext cx="3524726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Опциональный ИИ-анализ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8063" y="3707368"/>
            <a:ext cx="730067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Дополнительный уровень защиты от фишинговых писем.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03275" y="4444603"/>
            <a:ext cx="7710249" cy="1180028"/>
          </a:xfrm>
          <a:prstGeom prst="roundRect">
            <a:avLst>
              <a:gd name="adj" fmla="val 41659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6408063" y="4649391"/>
            <a:ext cx="2560320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Удобный стенд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08063" y="5092184"/>
            <a:ext cx="730067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Среда для обучения и экспериментов, развертываемая через Docker.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03275" y="5829419"/>
            <a:ext cx="7710249" cy="1180028"/>
          </a:xfrm>
          <a:prstGeom prst="roundRect">
            <a:avLst>
              <a:gd name="adj" fmla="val 41659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6408063" y="6034207"/>
            <a:ext cx="3471505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Повышение устойчивости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08063" y="6477000"/>
            <a:ext cx="730067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Комбинация правил и ИИ усиливает защиту от APT-кампаний.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03275" y="7239833"/>
            <a:ext cx="7710249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Спасибо за внимание!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713</Words>
  <Application>Microsoft Office PowerPoint</Application>
  <PresentationFormat>Произвольный</PresentationFormat>
  <Paragraphs>119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Consolas</vt:lpstr>
      <vt:lpstr>Arial</vt:lpstr>
      <vt:lpstr>Roboto Slab</vt:lpstr>
      <vt:lpstr>Roboto</vt:lpstr>
      <vt:lpstr>Roboto Slab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Николай Тулупов</cp:lastModifiedBy>
  <cp:revision>6</cp:revision>
  <dcterms:created xsi:type="dcterms:W3CDTF">2025-12-05T18:29:12Z</dcterms:created>
  <dcterms:modified xsi:type="dcterms:W3CDTF">2025-12-13T11:24:05Z</dcterms:modified>
</cp:coreProperties>
</file>